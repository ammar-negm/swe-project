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22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C9540-A04B-A154-3A6C-B492256C77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33E49-A7B7-CF31-0210-D924372DA7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70FCD-C65B-5FAD-8204-A0EC4A4D6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033D1-5240-E3DD-9292-51A383735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0CF12-5270-0B8A-942B-EB0B3525C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043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D57A6-AFAE-A134-14B6-EE9EB4EB4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26BCF-F285-5363-63BC-677E9DECD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FB0B9-E8B2-1CE0-DC33-623FCC220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0D078-DBF9-95FE-7263-450EDFF17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6AD26-8F69-DD5E-491A-BBC970B41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4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807B3-1406-F93F-F8A3-4FFFB2450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96904-3328-342B-A985-08103407D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3449-7431-E704-E952-7DC34A52E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73269-CC62-9ABA-6A06-2E67123D2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5F866-CE6F-F80F-1644-3FD6AB15C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37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9C893-C74A-3256-915A-154F61F24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CC5AA-99B3-3249-8FAF-8BB290C33B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65DB2-69DD-F809-800F-B0E73AFA8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2A3CD-581A-491B-EDF0-6E61B53DA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B443F-2E11-E986-FC97-0E1A21988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4D85D-3FB1-C516-5330-8C347F462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126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421F-D329-D949-DB40-352DA6B0D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BBFB3-1ECB-09B8-A46B-5BCA0CFE3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F3F44-1B51-4A74-FDF8-2D17D0DAC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3503B-CCCC-88AE-26C1-C586BF5189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D1ABC0-BF35-F3E0-E616-8C76F83A2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546B49-F537-680A-29AB-97B89031D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85F5E7-451D-CF6E-8C13-C23DD2C9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6358E3-E90C-BE6F-DB92-7C289CBAF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90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8FD97-D3E6-1D45-E636-C1CA9BA5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4C5890-9070-D963-BE09-70A74EA7D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4FF76-AF7B-6619-F67E-803ABCAED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5DFD01-4AB8-6BF6-A6F1-CBA818CB2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04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790D54-F862-02CC-7A2E-BAD150C8A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66D251-A1F0-CA3D-1F1E-3345371EE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F499A-8857-6F46-498F-DFC79A995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60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F22E3-23AD-1773-213E-094DF21E4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29FE3-9514-AD3B-E2C3-B4ED3826D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D610C-9483-9337-594B-846BFBE62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3AA67-7E23-39AF-889B-2ABA55E38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99CA8-5470-B027-1136-EEE7165C7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141D2-1FE2-2E87-5857-874091FF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63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5165F-2944-43FD-E027-7E38DD4AC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C8D44D-15AC-90E7-8B4B-30D85F9AEF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62DA5-C9D5-2C8A-0C88-21CEA67D9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B7BAC-2607-0C1E-4557-0A7A56C1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FBA57-4A65-854A-7F26-5E09F5B5E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F4CD6-671E-37BF-DBF0-F22662A57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82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1BA42-E311-E700-D169-E419DC2C7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88268-9935-BBEE-AF6C-91E1F34BD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08AC9-EBCB-3F76-F367-7C50B71E8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FC16C-74D0-CF31-806C-91C8688C1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867A5-5C78-4F20-B95C-F40FD588D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691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623916-34AE-941E-ECDB-C0D81FA59A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A2BB71-8853-0619-B1E0-F70D4769A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3B713-C9E6-A7F7-9392-443D2E258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3B9E0-8469-B808-D40D-2B705DF6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3CA46-DD5A-9957-8416-3A8C4A3E2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50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2A2F3-CEB3-1969-5AFE-54DA845D7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24BE0-D09F-495B-FDEE-F7B5C82F2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A6837-1989-0D65-93E9-23C59F62D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3E6EA2-DABD-4B8F-98F2-6D3789DC2BE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27328-005B-5F89-8D24-DD0459C53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AAA20-B5C6-D89B-F046-60A4D8EECA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3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139764"/>
              </p:ext>
            </p:extLst>
          </p:nvPr>
        </p:nvGraphicFramePr>
        <p:xfrm>
          <a:off x="-1" y="0"/>
          <a:ext cx="12447640" cy="7121435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864078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583562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4574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B12 – Automated Reorder Trigger (Observer)</a:t>
                      </a:r>
                      <a:endParaRPr lang="en-US" sz="1800" b="1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466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system keeps an eye on stock levels and automatically creates a reorder request whenever the quantity drops below a defined limit.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8841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Each product should have a minimum stock level defined.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inventory system must be running properly.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Supplier data must already be available in the system.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6189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reorder request is created and saved.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notification is sent to the responsible person or system.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15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If supplier information is missing, the system logs the issue and skips the request.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If inventory data is incorrect, the reorder process is not triggered.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6189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System (Primary) </a:t>
                      </a:r>
                      <a:br>
                        <a:rPr lang="en-US" dirty="0"/>
                      </a:br>
                      <a:r>
                        <a:rPr lang="en-US" dirty="0"/>
                        <a:t>Inventory Manager (Secondary) 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894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process starts when stock goes below the minimum level.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6799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 The system keeps monitoring stock levels. </a:t>
                      </a:r>
                    </a:p>
                    <a:p>
                      <a:r>
                        <a:rPr lang="en-US" dirty="0"/>
                        <a:t>2. A product quantity drops below the minimum level. </a:t>
                      </a:r>
                    </a:p>
                    <a:p>
                      <a:r>
                        <a:rPr lang="en-US" dirty="0"/>
                        <a:t>3. The system detects this change. </a:t>
                      </a:r>
                    </a:p>
                    <a:p>
                      <a:r>
                        <a:rPr lang="en-US" dirty="0"/>
                        <a:t>4. It checks product and supplier details. </a:t>
                      </a:r>
                    </a:p>
                    <a:p>
                      <a:r>
                        <a:rPr lang="en-US" dirty="0"/>
                        <a:t>5. A reorder request is created. </a:t>
                      </a:r>
                    </a:p>
                    <a:p>
                      <a:r>
                        <a:rPr lang="en-US" dirty="0"/>
                        <a:t>6. A notification is sent to the responsible party.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8841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auto-ordering is enabled, the system directly creates a purchase order.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If approval is required, the request is sent to a manager before proceeding. </a:t>
                      </a:r>
                    </a:p>
                    <a:p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062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7A2BB-8038-2093-02A9-DDA61F9D1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F066050-5335-EE92-F8C9-747A970DD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62055"/>
              </p:ext>
            </p:extLst>
          </p:nvPr>
        </p:nvGraphicFramePr>
        <p:xfrm>
          <a:off x="0" y="1"/>
          <a:ext cx="12192000" cy="7396736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873910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318090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5480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B14 – B2B Purchase Order Generator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007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system creates a purchase order and sends it to the supplier based on approved reorder requests.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8882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reorder request must already exist. </a:t>
                      </a:r>
                    </a:p>
                    <a:p>
                      <a:r>
                        <a:rPr lang="en-US" dirty="0"/>
                        <a:t>The request must be approved (if approval is required). </a:t>
                      </a:r>
                    </a:p>
                    <a:p>
                      <a:r>
                        <a:rPr lang="en-US" dirty="0"/>
                        <a:t>Supplier and product details must be valid.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6217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purchase order is generated and stored in the system. </a:t>
                      </a:r>
                    </a:p>
                    <a:p>
                      <a:r>
                        <a:rPr lang="en-US" dirty="0"/>
                        <a:t>The supplier receives the order.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396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supplier data is invalid, the order is not created. </a:t>
                      </a:r>
                    </a:p>
                    <a:p>
                      <a:r>
                        <a:rPr lang="en-US" dirty="0"/>
                        <a:t>If product details are missing, the system stops the process and logs an error.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6217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System (Primary) </a:t>
                      </a:r>
                    </a:p>
                    <a:p>
                      <a:r>
                        <a:rPr lang="en-US" dirty="0"/>
                        <a:t>Procurement Manager (Secondary)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655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An approved reorder request is ready to be processed.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9541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r-EG" dirty="0"/>
                        <a:t> .1</a:t>
                      </a:r>
                      <a:r>
                        <a:rPr lang="en-US" dirty="0"/>
                        <a:t>The system receives an approved reorder request. </a:t>
                      </a:r>
                    </a:p>
                    <a:p>
                      <a:r>
                        <a:rPr lang="ar-EG" dirty="0"/>
                        <a:t> .2</a:t>
                      </a:r>
                      <a:r>
                        <a:rPr lang="en-US" dirty="0"/>
                        <a:t>It retrieves supplier and product information. </a:t>
                      </a:r>
                    </a:p>
                    <a:p>
                      <a:r>
                        <a:rPr lang="ar-EG" dirty="0"/>
                        <a:t> .3</a:t>
                      </a:r>
                      <a:r>
                        <a:rPr lang="en-US" dirty="0"/>
                        <a:t>The system calculates required quantities and cost. </a:t>
                      </a:r>
                    </a:p>
                    <a:p>
                      <a:r>
                        <a:rPr lang="ar-EG" dirty="0"/>
                        <a:t> .4</a:t>
                      </a:r>
                      <a:r>
                        <a:rPr lang="en-US" dirty="0"/>
                        <a:t>A purchase order is generated. </a:t>
                      </a:r>
                    </a:p>
                    <a:p>
                      <a:r>
                        <a:rPr lang="ar-EG" dirty="0"/>
                        <a:t> .5</a:t>
                      </a:r>
                      <a:r>
                        <a:rPr lang="en-US" dirty="0"/>
                        <a:t>The order is stored in the system. </a:t>
                      </a:r>
                    </a:p>
                    <a:p>
                      <a:r>
                        <a:rPr lang="ar-EG" dirty="0"/>
                        <a:t> .6</a:t>
                      </a:r>
                      <a:r>
                        <a:rPr lang="en-US" dirty="0"/>
                        <a:t>The order is sent to the supplier. 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935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multiple requests exist, the system can combine them into one order. </a:t>
                      </a:r>
                    </a:p>
                    <a:p>
                      <a:r>
                        <a:rPr lang="en-US" dirty="0"/>
                        <a:t>If manual confirmation is required, the process pauses until approval. </a:t>
                      </a:r>
                    </a:p>
                    <a:p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974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22C18-D96B-F0E7-2E85-BF694612A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01E1E1-D9FD-D69A-20A7-55404FE49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562469"/>
              </p:ext>
            </p:extLst>
          </p:nvPr>
        </p:nvGraphicFramePr>
        <p:xfrm>
          <a:off x="0" y="3"/>
          <a:ext cx="12192000" cy="6933323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534400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6319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B16 – Tiered Supplier Selection Logic</a:t>
                      </a:r>
                      <a:br>
                        <a:rPr lang="en-US" dirty="0"/>
                      </a:b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6319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system selects the most suitable supplier based on predefined tiers such as price, quality, and delivery time.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9028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list of suppliers must be available. </a:t>
                      </a:r>
                    </a:p>
                    <a:p>
                      <a:r>
                        <a:rPr lang="en-US" dirty="0"/>
                        <a:t>Supplier evaluation criteria must be defined. </a:t>
                      </a:r>
                    </a:p>
                    <a:p>
                      <a:r>
                        <a:rPr lang="en-US" dirty="0"/>
                        <a:t>Product requirements must be clear.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6319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supplier is selected based on ranking. </a:t>
                      </a:r>
                    </a:p>
                    <a:p>
                      <a:r>
                        <a:rPr lang="en-US" dirty="0"/>
                        <a:t>The selected supplier is linked to the purchase order.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319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no supplier meets the criteria, the system flags the issue. </a:t>
                      </a:r>
                    </a:p>
                    <a:p>
                      <a:r>
                        <a:rPr lang="en-US" dirty="0"/>
                        <a:t>If supplier data is incomplete, the system ignores that supplier.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6319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System (Primary) </a:t>
                      </a:r>
                    </a:p>
                    <a:p>
                      <a:r>
                        <a:rPr lang="en-US" dirty="0"/>
                        <a:t>Procurement Manager (Secondary)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611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purchase request requires supplier selection.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4444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r-EG" dirty="0"/>
                        <a:t> .1</a:t>
                      </a:r>
                      <a:r>
                        <a:rPr lang="en-US" dirty="0"/>
                        <a:t>The system retrieves the list of available suppliers. </a:t>
                      </a:r>
                    </a:p>
                    <a:p>
                      <a:r>
                        <a:rPr lang="ar-EG" dirty="0"/>
                        <a:t> .2</a:t>
                      </a:r>
                      <a:r>
                        <a:rPr lang="en-US" dirty="0"/>
                        <a:t>It evaluates suppliers based on predefined criteria. </a:t>
                      </a:r>
                    </a:p>
                    <a:p>
                      <a:r>
                        <a:rPr lang="ar-EG" dirty="0"/>
                        <a:t> .3</a:t>
                      </a:r>
                      <a:r>
                        <a:rPr lang="en-US" dirty="0"/>
                        <a:t>Suppliers are ranked into tiers. </a:t>
                      </a:r>
                    </a:p>
                    <a:p>
                      <a:r>
                        <a:rPr lang="ar-EG" dirty="0"/>
                        <a:t> .4</a:t>
                      </a:r>
                      <a:r>
                        <a:rPr lang="en-US" dirty="0"/>
                        <a:t>The best supplier is selected. </a:t>
                      </a:r>
                    </a:p>
                    <a:p>
                      <a:r>
                        <a:rPr lang="ar-EG" dirty="0"/>
                        <a:t> .5</a:t>
                      </a:r>
                      <a:r>
                        <a:rPr lang="en-US" dirty="0"/>
                        <a:t>The selected supplier is assigned to the order.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9897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the top supplier is unavailable, the system selects the next tier. </a:t>
                      </a:r>
                    </a:p>
                    <a:p>
                      <a:r>
                        <a:rPr lang="en-US" dirty="0"/>
                        <a:t>If manual selection is enabled, the manager chooses the supplier.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0140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0B872-BD31-2E72-8F17-4512AF80C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9FE6D1-E976-53AD-0E37-0EEC87C40C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21077"/>
              </p:ext>
            </p:extLst>
          </p:nvPr>
        </p:nvGraphicFramePr>
        <p:xfrm>
          <a:off x="0" y="3"/>
          <a:ext cx="12192000" cy="6921296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69692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49507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6002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B17 – Partial Shipment Reconciliation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6152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system handles cases where orders are delivered in parts and ensures that received quantities are tracked and matched with the original order.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8789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purchase order must already exist. </a:t>
                      </a:r>
                    </a:p>
                    <a:p>
                      <a:r>
                        <a:rPr lang="en-US" dirty="0"/>
                        <a:t>Partial shipments must be allowed in the system. </a:t>
                      </a:r>
                    </a:p>
                    <a:p>
                      <a:r>
                        <a:rPr lang="en-US" dirty="0"/>
                        <a:t>Delivery records must be recorded.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6152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Delivered quantities are updated in the system. </a:t>
                      </a:r>
                    </a:p>
                    <a:p>
                      <a:r>
                        <a:rPr lang="en-US" dirty="0"/>
                        <a:t>Remaining quantities are tracked for future deliveries.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152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delivered quantity exceeds ordered quantity, the system flags an error. </a:t>
                      </a:r>
                    </a:p>
                    <a:p>
                      <a:r>
                        <a:rPr lang="en-US" dirty="0"/>
                        <a:t>If delivery data is missing, the update is not processed.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6152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Warehouse Staff (Primary) </a:t>
                      </a:r>
                    </a:p>
                    <a:p>
                      <a:r>
                        <a:rPr lang="en-US" dirty="0"/>
                        <a:t>System (Secondary)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515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partial shipment is received.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4062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r-EG" dirty="0"/>
                        <a:t> .1</a:t>
                      </a:r>
                      <a:r>
                        <a:rPr lang="en-US" dirty="0"/>
                        <a:t>A partial shipment arrives at the warehouse. </a:t>
                      </a:r>
                    </a:p>
                    <a:p>
                      <a:r>
                        <a:rPr lang="ar-EG" dirty="0"/>
                        <a:t> .2 </a:t>
                      </a:r>
                      <a:r>
                        <a:rPr lang="en-US" dirty="0"/>
                        <a:t>The warehouse staff records the received quantities. </a:t>
                      </a:r>
                    </a:p>
                    <a:p>
                      <a:r>
                        <a:rPr lang="ar-EG" dirty="0"/>
                        <a:t> .3</a:t>
                      </a:r>
                      <a:r>
                        <a:rPr lang="en-US" dirty="0"/>
                        <a:t>The system updates the order with received items. </a:t>
                      </a:r>
                    </a:p>
                    <a:p>
                      <a:r>
                        <a:rPr lang="ar-EG" dirty="0"/>
                        <a:t> .4</a:t>
                      </a:r>
                      <a:r>
                        <a:rPr lang="en-US" dirty="0"/>
                        <a:t>Remaining quantities are calculated. </a:t>
                      </a:r>
                    </a:p>
                    <a:p>
                      <a:r>
                        <a:rPr lang="ar-EG" dirty="0"/>
                        <a:t> .5</a:t>
                      </a:r>
                      <a:r>
                        <a:rPr lang="en-US" dirty="0"/>
                        <a:t>The order status is updated (partially fulfilled).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0175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the full shipment arrives later, the order is marked as completed. </a:t>
                      </a:r>
                    </a:p>
                    <a:p>
                      <a:r>
                        <a:rPr lang="en-US" dirty="0"/>
                        <a:t>If items are damaged, they are reported and excluded. </a:t>
                      </a:r>
                    </a:p>
                    <a:p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9001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9A324-4DB6-F677-9DAF-230AB383B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3468E83-15DB-F655-6ACC-F9B58A0DEB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406853"/>
              </p:ext>
            </p:extLst>
          </p:nvPr>
        </p:nvGraphicFramePr>
        <p:xfrm>
          <a:off x="0" y="1"/>
          <a:ext cx="12192000" cy="6962184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755923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436077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6124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B22 – Supplier Contract Versioning</a:t>
                      </a:r>
                      <a:br>
                        <a:rPr lang="en-US" dirty="0"/>
                      </a:b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6124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system keeps track of different versions of supplier contracts and ensures that the correct version is used at the right time.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8749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Supplier contracts must exist in the system. </a:t>
                      </a:r>
                    </a:p>
                    <a:p>
                      <a:r>
                        <a:rPr lang="en-US" dirty="0"/>
                        <a:t>Version control rules must be defined. </a:t>
                      </a:r>
                    </a:p>
                    <a:p>
                      <a:r>
                        <a:rPr lang="en-US" dirty="0"/>
                        <a:t>Users must have permission to view or update contracts.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6124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new version of the contract is stored. </a:t>
                      </a:r>
                    </a:p>
                    <a:p>
                      <a:r>
                        <a:rPr lang="en-US" dirty="0"/>
                        <a:t>Previous versions remain</a:t>
                      </a:r>
                      <a:r>
                        <a:rPr lang="ar-EG" dirty="0"/>
                        <a:t> </a:t>
                      </a:r>
                      <a:r>
                        <a:rPr lang="en-US" dirty="0"/>
                        <a:t>for reference.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124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version data is incorrect, the update is rejected. </a:t>
                      </a:r>
                    </a:p>
                    <a:p>
                      <a:r>
                        <a:rPr lang="en-US" dirty="0"/>
                        <a:t>If user lacks permission, the action is denied.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6124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Procurement Manager (Primary) </a:t>
                      </a:r>
                    </a:p>
                    <a:p>
                      <a:r>
                        <a:rPr lang="en-US" dirty="0"/>
                        <a:t>System (Secondary)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499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contract needs to be updated or revised.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3998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r-EG" dirty="0"/>
                        <a:t> .1</a:t>
                      </a:r>
                      <a:r>
                        <a:rPr lang="en-US" dirty="0"/>
                        <a:t>The manager selects an existing contract. </a:t>
                      </a:r>
                    </a:p>
                    <a:p>
                      <a:r>
                        <a:rPr lang="ar-EG" dirty="0"/>
                        <a:t> .2</a:t>
                      </a:r>
                      <a:r>
                        <a:rPr lang="en-US" dirty="0"/>
                        <a:t>Updates are made to the contract. </a:t>
                      </a:r>
                    </a:p>
                    <a:p>
                      <a:r>
                        <a:rPr lang="ar-EG" dirty="0"/>
                        <a:t> .3</a:t>
                      </a:r>
                      <a:r>
                        <a:rPr lang="en-US" dirty="0"/>
                        <a:t>The system creates a new version. </a:t>
                      </a:r>
                    </a:p>
                    <a:p>
                      <a:r>
                        <a:rPr lang="ar-EG" dirty="0"/>
                        <a:t> .4</a:t>
                      </a:r>
                      <a:r>
                        <a:rPr lang="en-US" dirty="0"/>
                        <a:t>The new version is saved with a version number. </a:t>
                      </a:r>
                    </a:p>
                    <a:p>
                      <a:r>
                        <a:rPr lang="ar-EG" dirty="0"/>
                        <a:t> .5</a:t>
                      </a:r>
                      <a:r>
                        <a:rPr lang="en-US" dirty="0"/>
                        <a:t>The previous versions are archived.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0185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rollback is needed, a previous version can be restored. </a:t>
                      </a:r>
                    </a:p>
                    <a:p>
                      <a:r>
                        <a:rPr lang="en-US" dirty="0"/>
                        <a:t>If minor changes occur, a sub-version can be created.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2479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1235</Words>
  <Application>Microsoft Office PowerPoint</Application>
  <PresentationFormat>Widescreen</PresentationFormat>
  <Paragraphs>142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Ismail Shehata</dc:creator>
  <cp:lastModifiedBy>mohammed emad</cp:lastModifiedBy>
  <cp:revision>6</cp:revision>
  <dcterms:created xsi:type="dcterms:W3CDTF">2026-04-05T05:37:04Z</dcterms:created>
  <dcterms:modified xsi:type="dcterms:W3CDTF">2026-04-10T09:14:21Z</dcterms:modified>
</cp:coreProperties>
</file>