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22" autoAdjust="0"/>
    <p:restoredTop sz="94660"/>
  </p:normalViewPr>
  <p:slideViewPr>
    <p:cSldViewPr snapToGrid="0">
      <p:cViewPr varScale="1">
        <p:scale>
          <a:sx n="91" d="100"/>
          <a:sy n="91" d="100"/>
        </p:scale>
        <p:origin x="269" y="-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C9540-A04B-A154-3A6C-B492256C77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733E49-A7B7-CF31-0210-D924372DA7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70FCD-C65B-5FAD-8204-A0EC4A4D6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D033D1-5240-E3DD-9292-51A383735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0CF12-5270-0B8A-942B-EB0B3525C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043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D57A6-AFAE-A134-14B6-EE9EB4EB4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26BCF-F285-5363-63BC-677E9DECD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FB0B9-E8B2-1CE0-DC33-623FCC220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0D078-DBF9-95FE-7263-450EDFF17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76AD26-8F69-DD5E-491A-BBC970B41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47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807B3-1406-F93F-F8A3-4FFFB2450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496904-3328-342B-A985-08103407DA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3449-7431-E704-E952-7DC34A52E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73269-CC62-9ABA-6A06-2E67123D2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5F866-CE6F-F80F-1644-3FD6AB15C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837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9C893-C74A-3256-915A-154F61F24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CC5AA-99B3-3249-8FAF-8BB290C33B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265DB2-69DD-F809-800F-B0E73AFA82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E2A3CD-581A-491B-EDF0-6E61B53DA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DB443F-2E11-E986-FC97-0E1A21988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34D85D-3FB1-C516-5330-8C347F462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126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A421F-D329-D949-DB40-352DA6B0D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DBBFB3-1ECB-09B8-A46B-5BCA0CFE3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BF3F44-1B51-4A74-FDF8-2D17D0DACC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53503B-CCCC-88AE-26C1-C586BF5189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D1ABC0-BF35-F3E0-E616-8C76F83A2C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546B49-F537-680A-29AB-97B89031D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85F5E7-451D-CF6E-8C13-C23DD2C9E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6358E3-E90C-BE6F-DB92-7C289CBAF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790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8FD97-D3E6-1D45-E636-C1CA9BA55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4C5890-9070-D963-BE09-70A74EA7D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4FF76-AF7B-6619-F67E-803ABCAED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5DFD01-4AB8-6BF6-A6F1-CBA818CB2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704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790D54-F862-02CC-7A2E-BAD150C8A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66D251-A1F0-CA3D-1F1E-3345371EE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F499A-8857-6F46-498F-DFC79A995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960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F22E3-23AD-1773-213E-094DF21E4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29FE3-9514-AD3B-E2C3-B4ED3826D1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DD610C-9483-9337-594B-846BFBE627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83AA67-7E23-39AF-889B-2ABA55E38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B99CA8-5470-B027-1136-EEE7165C7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141D2-1FE2-2E87-5857-874091FF8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63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5165F-2944-43FD-E027-7E38DD4AC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C8D44D-15AC-90E7-8B4B-30D85F9AEF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262DA5-C9D5-2C8A-0C88-21CEA67D9C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3B7BAC-2607-0C1E-4557-0A7A56C1E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1FBA57-4A65-854A-7F26-5E09F5B5E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5F4CD6-671E-37BF-DBF0-F22662A57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282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1BA42-E311-E700-D169-E419DC2C7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A88268-9935-BBEE-AF6C-91E1F34BDA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08AC9-EBCB-3F76-F367-7C50B71E8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FC16C-74D0-CF31-806C-91C8688C1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867A5-5C78-4F20-B95C-F40FD588D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691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623916-34AE-941E-ECDB-C0D81FA59A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A2BB71-8853-0619-B1E0-F70D4769A1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3B713-C9E6-A7F7-9392-443D2E258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3B9E0-8469-B808-D40D-2B705DF60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F3CA46-DD5A-9957-8416-3A8C4A3E2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507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32A2F3-CEB3-1969-5AFE-54DA845D7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24BE0-D09F-495B-FDEE-F7B5C82F2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A6837-1989-0D65-93E9-23C59F62D4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3E6EA2-DABD-4B8F-98F2-6D3789DC2BE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27328-005B-5F89-8D24-DD0459C53D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AAA20-B5C6-D89B-F046-60A4D8EECA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30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B52D8FE-94A7-923B-CA3E-29F7F1B76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669336"/>
              </p:ext>
            </p:extLst>
          </p:nvPr>
        </p:nvGraphicFramePr>
        <p:xfrm>
          <a:off x="0" y="1"/>
          <a:ext cx="12192000" cy="6889931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>
                  <a:extLst>
                    <a:ext uri="{9D8B030D-6E8A-4147-A177-3AD203B41FA5}">
                      <a16:colId xmlns:a16="http://schemas.microsoft.com/office/drawing/2014/main" val="4271940744"/>
                    </a:ext>
                  </a:extLst>
                </a:gridCol>
                <a:gridCol w="8036041">
                  <a:extLst>
                    <a:ext uri="{9D8B030D-6E8A-4147-A177-3AD203B41FA5}">
                      <a16:colId xmlns:a16="http://schemas.microsoft.com/office/drawing/2014/main" val="873857382"/>
                    </a:ext>
                  </a:extLst>
                </a:gridCol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B18 – Inbound Logistics Gatekeeper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117165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Ensure every incoming shipment goes through a defined receiving process before being stored, so no item enters inventory without inspection.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07460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A purchase order has been issued and the shipment is expected in the system.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470651"/>
                  </a:ext>
                </a:extLst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The shipment status is updated to Stored and inventory is updated automatically.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545432"/>
                  </a:ext>
                </a:extLst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If a stage is skipped or the shipment data is incomplete, the system rejects the transition and keeps the current state unchanged.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005549"/>
                  </a:ext>
                </a:extLst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Floor Staff, Manager, Supplier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717442"/>
                  </a:ext>
                </a:extLst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A supplier delivers a shipment to the warehouse dock.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861149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1. System creates a shipment record with status Expected when the PO is issued.</a:t>
                      </a:r>
                    </a:p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2. Floor staff registers arrival at the dock — status changes to At Dock.</a:t>
                      </a:r>
                    </a:p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3. Floor staff starts inspection — status changes to Being Inspected.</a:t>
                      </a:r>
                    </a:p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4. Floor staff confirms all items are checked — status changes to Stored.</a:t>
                      </a:r>
                    </a:p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5. System automatically updates inventory with the shipment quantities.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44207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- If the shipment arrives without a matching PO, the system flags it and requires manager approval before proceeding.</a:t>
                      </a:r>
                    </a:p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- If inspection finds issues, the workflow moves to the Quality Control process (B19) before storage is allowed.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37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0062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B52D8FE-94A7-923B-CA3E-29F7F1B76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669336"/>
              </p:ext>
            </p:extLst>
          </p:nvPr>
        </p:nvGraphicFramePr>
        <p:xfrm>
          <a:off x="0" y="1"/>
          <a:ext cx="12192000" cy="7404736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>
                  <a:extLst>
                    <a:ext uri="{9D8B030D-6E8A-4147-A177-3AD203B41FA5}">
                      <a16:colId xmlns:a16="http://schemas.microsoft.com/office/drawing/2014/main" val="4271940744"/>
                    </a:ext>
                  </a:extLst>
                </a:gridCol>
                <a:gridCol w="8036041">
                  <a:extLst>
                    <a:ext uri="{9D8B030D-6E8A-4147-A177-3AD203B41FA5}">
                      <a16:colId xmlns:a16="http://schemas.microsoft.com/office/drawing/2014/main" val="873857382"/>
                    </a:ext>
                  </a:extLst>
                </a:gridCol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B19 – Supplier Quality Control Workflow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117165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Allow floor staff to inspect incoming shipments item by item and automatically decide if the shipment is accepted or rejected based on the defect rate.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07460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A shipment is in the Being Inspected state (B18). The defect threshold is configured in the system.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470651"/>
                  </a:ext>
                </a:extLst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The shipment is either accepted and moved to storage, or rejected and a report is sent to the supplier.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545432"/>
                  </a:ext>
                </a:extLst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If staff submits the inspection without checking all items, the system blocks completion and highlights unchecked items.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005549"/>
                  </a:ext>
                </a:extLst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Floor Staff, Manager, Supplier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717442"/>
                  </a:ext>
                </a:extLst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Floor staff begins physical inspection of a shipment.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861149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1. System displays a checklist of all expected SKUs with their quantities.</a:t>
                      </a:r>
                    </a:p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2. Floor staff marks each unit as Accepted or Rejected. Rejected items require a written reason.</a:t>
                      </a:r>
                    </a:p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3. System calculates defect rate: rejected / total × 100.</a:t>
                      </a:r>
                    </a:p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4. If defect rate is within threshold, shipment is approved and proceeds to storage.</a:t>
                      </a:r>
                    </a:p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5. If defect rate exceeds threshold, system rejects the shipment and generates a report.</a:t>
                      </a:r>
                    </a:p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6. Report is sent automatically to the supplier account.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44207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- Staff can partially submit and resume inspection later as long as the shipment is not yet finalized.</a:t>
                      </a:r>
                    </a:p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- Manager can override the system decision and manually approve or reject a borderline shipment.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37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0062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B52D8FE-94A7-923B-CA3E-29F7F1B76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669336"/>
              </p:ext>
            </p:extLst>
          </p:nvPr>
        </p:nvGraphicFramePr>
        <p:xfrm>
          <a:off x="0" y="1"/>
          <a:ext cx="12192000" cy="7160896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>
                  <a:extLst>
                    <a:ext uri="{9D8B030D-6E8A-4147-A177-3AD203B41FA5}">
                      <a16:colId xmlns:a16="http://schemas.microsoft.com/office/drawing/2014/main" val="4271940744"/>
                    </a:ext>
                  </a:extLst>
                </a:gridCol>
                <a:gridCol w="8036041">
                  <a:extLst>
                    <a:ext uri="{9D8B030D-6E8A-4147-A177-3AD203B41FA5}">
                      <a16:colId xmlns:a16="http://schemas.microsoft.com/office/drawing/2014/main" val="873857382"/>
                    </a:ext>
                  </a:extLst>
                </a:gridCol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A7 – Bulk Breakdown Workflow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117165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Convert large pallet shipments into individual shelf-ready SKU units so every item can be tracked and located precisely in the warehouse.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07460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A bulk shipment has passed quality control and is ready to be stored. The system has the total quantity on record.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470651"/>
                  </a:ext>
                </a:extLst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All individual units are added to inventory with their shelf locations. A breakdown log is saved.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545432"/>
                  </a:ext>
                </a:extLst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If the total number of broken-down units does not match the expected quantity, the system blocks completion until the difference is resolved.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005549"/>
                  </a:ext>
                </a:extLst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Floor Staff, Manager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717442"/>
                  </a:ext>
                </a:extLst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A pallet or bulk shipment is approved and ready for breakdown.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861149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1. Floor staff opens the bulk shipment record in the system.</a:t>
                      </a:r>
                    </a:p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2. Staff enters breakdown entries: SKU, quantity, and shelf location for each group.</a:t>
                      </a:r>
                    </a:p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3. System tracks running total and shows remaining units to be assigned.</a:t>
                      </a:r>
                    </a:p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4. Once all units are assigned, staff confirms completion.</a:t>
                      </a:r>
                    </a:p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5. System adds all units to inventory and saves a breakdown log with timestamp and staff ID.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44207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- If a shelf location is full, the system warns the staff and suggests an alternative shelf.</a:t>
                      </a:r>
                    </a:p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- Staff can save progress and continue the breakdown later without losing assigned units.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37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0062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B52D8FE-94A7-923B-CA3E-29F7F1B76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669336"/>
              </p:ext>
            </p:extLst>
          </p:nvPr>
        </p:nvGraphicFramePr>
        <p:xfrm>
          <a:off x="0" y="1"/>
          <a:ext cx="12192000" cy="7621451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>
                  <a:extLst>
                    <a:ext uri="{9D8B030D-6E8A-4147-A177-3AD203B41FA5}">
                      <a16:colId xmlns:a16="http://schemas.microsoft.com/office/drawing/2014/main" val="4271940744"/>
                    </a:ext>
                  </a:extLst>
                </a:gridCol>
                <a:gridCol w="8036041">
                  <a:extLst>
                    <a:ext uri="{9D8B030D-6E8A-4147-A177-3AD203B41FA5}">
                      <a16:colId xmlns:a16="http://schemas.microsoft.com/office/drawing/2014/main" val="873857382"/>
                    </a:ext>
                  </a:extLst>
                </a:gridCol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B20 – Automated Invoice Matching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117165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Automatically compare the supplier invoice against what was actually received and flag any financial discrepancy before payment is processed.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07460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A shipment has been received and logged (B18 / B19). A supplier invoice linked to the same PO number has been submitted.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470651"/>
                  </a:ext>
                </a:extLst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Invoice is either approved for payment or rejected with a notification sent to the supplier.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545432"/>
                  </a:ext>
                </a:extLst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If the invoice has no matching PO number, the system rejects the upload and asks the supplier to correct it.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005549"/>
                  </a:ext>
                </a:extLst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Supplier, Manager,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717442"/>
                  </a:ext>
                </a:extLst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Supplier uploads an invoice through the portal.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861149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1. Supplier uploads invoice. System links it to the PO using the PO number.</a:t>
                      </a:r>
                    </a:p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2. System compares invoice quantity and unit price against the receiving log.</a:t>
                      </a:r>
                    </a:p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3. System calculates discrepancy: (invoice qty - received qty) × unit price.</a:t>
                      </a:r>
                    </a:p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4. If discrepancy is zero, invoice is flagged as matched and sent to manager for final approval.</a:t>
                      </a:r>
                    </a:p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5. If discrepancy exists, payment is frozen and an alert is sent to the manager.</a:t>
                      </a:r>
                    </a:p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6. Manager reviews and either approves or rejects the invoice. On rejection, supplier is notified with the details.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44207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- If only part of the order was delivered intentionally (partial shipment), the manager can mark the invoice as partially matched and release partial payment.</a:t>
                      </a:r>
                    </a:p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- Supplier can re-submit a corrected invoice after rejection.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37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0062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B52D8FE-94A7-923B-CA3E-29F7F1B76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669336"/>
              </p:ext>
            </p:extLst>
          </p:nvPr>
        </p:nvGraphicFramePr>
        <p:xfrm>
          <a:off x="0" y="1"/>
          <a:ext cx="12192000" cy="7648576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>
                  <a:extLst>
                    <a:ext uri="{9D8B030D-6E8A-4147-A177-3AD203B41FA5}">
                      <a16:colId xmlns:a16="http://schemas.microsoft.com/office/drawing/2014/main" val="4271940744"/>
                    </a:ext>
                  </a:extLst>
                </a:gridCol>
                <a:gridCol w="8036041">
                  <a:extLst>
                    <a:ext uri="{9D8B030D-6E8A-4147-A177-3AD203B41FA5}">
                      <a16:colId xmlns:a16="http://schemas.microsoft.com/office/drawing/2014/main" val="873857382"/>
                    </a:ext>
                  </a:extLst>
                </a:gridCol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B13 – Supplier Lead-Time Estimator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117165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Predict when an incoming shipment will arrive based on each supplier's delivery history, so managers can plan stock levels in advance.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07460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The supplier has at least one previous delivery recorded in the system. A new purchase order has been issued.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470651"/>
                  </a:ext>
                </a:extLst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An estimated delivery window is displayed on the PO record. The supplier's average is updated after each new delivery.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545432"/>
                  </a:ext>
                </a:extLst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If a supplier has no delivery history, the system shows a default estimate and flags it as unverified.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005549"/>
                  </a:ext>
                </a:extLst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Manager,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717442"/>
                  </a:ext>
                </a:extLst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A purchase order is created and submitted to a supplier.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861149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1. System retrieves the supplier's last 10 delivery records.</a:t>
                      </a:r>
                    </a:p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2. System calculates average delivery time and standard deviation.</a:t>
                      </a:r>
                    </a:p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3. ETA is computed: order date + average ± standard deviation.</a:t>
                      </a:r>
                    </a:p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4. Estimated window is displayed on the PO record for the manager.</a:t>
                      </a:r>
                    </a:p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5. A daily job checks all open POs. If current date exceeds the expected window, a late-shipment alert is sent to the manager.</a:t>
                      </a:r>
                    </a:p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6. After each new receipt, the supplier's average and deviation are recalculated automatically.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44207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- If the manager has specific knowledge of a delay (e.g., supplier informed them), they can manually adjust the expected date on the PO.</a:t>
                      </a:r>
                    </a:p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- If multiple suppliers can fulfil the order, the system shows each supplier's estimated delivery window side by side.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37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0062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1415</Words>
  <Application>Microsoft Office PowerPoint</Application>
  <PresentationFormat>Widescreen</PresentationFormat>
  <Paragraphs>118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Ismail Shehata</dc:creator>
  <cp:lastModifiedBy>Ali Mahmoud Fawzy Mahmoud Gad El-Moula</cp:lastModifiedBy>
  <cp:revision>5</cp:revision>
  <dcterms:created xsi:type="dcterms:W3CDTF">2026-04-05T05:37:04Z</dcterms:created>
  <dcterms:modified xsi:type="dcterms:W3CDTF">2026-04-08T20:17:28Z</dcterms:modified>
</cp:coreProperties>
</file>