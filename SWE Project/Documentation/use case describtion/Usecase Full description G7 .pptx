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57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E106B4-9C97-4DE9-9C97-D2336C0E9283}" v="89" dt="2026-04-09T13:29:11.222"/>
    <p1510:client id="{B29545CF-C048-4C5E-9887-6899E425AFEE}" v="240" dt="2026-04-09T20:12:23.2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22" autoAdjust="0"/>
    <p:restoredTop sz="94660"/>
  </p:normalViewPr>
  <p:slideViewPr>
    <p:cSldViewPr snapToGrid="0">
      <p:cViewPr varScale="1">
        <p:scale>
          <a:sx n="79" d="100"/>
          <a:sy n="79" d="100"/>
        </p:scale>
        <p:origin x="74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C9540-A04B-A154-3A6C-B492256C77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733E49-A7B7-CF31-0210-D924372DA7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470FCD-C65B-5FAD-8204-A0EC4A4D6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D033D1-5240-E3DD-9292-51A383735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0CF12-5270-0B8A-942B-EB0B3525C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043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D57A6-AFAE-A134-14B6-EE9EB4EB4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26BCF-F285-5363-63BC-677E9DECD5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FB0B9-E8B2-1CE0-DC33-623FCC220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0D078-DBF9-95FE-7263-450EDFF17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76AD26-8F69-DD5E-491A-BBC970B41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47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807B3-1406-F93F-F8A3-4FFFB2450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496904-3328-342B-A985-08103407DA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93449-7431-E704-E952-7DC34A52E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73269-CC62-9ABA-6A06-2E67123D2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5F866-CE6F-F80F-1644-3FD6AB15C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837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9C893-C74A-3256-915A-154F61F24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6CC5AA-99B3-3249-8FAF-8BB290C33B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265DB2-69DD-F809-800F-B0E73AFA82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E2A3CD-581A-491B-EDF0-6E61B53DA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DB443F-2E11-E986-FC97-0E1A21988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34D85D-3FB1-C516-5330-8C347F462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126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A421F-D329-D949-DB40-352DA6B0D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DBBFB3-1ECB-09B8-A46B-5BCA0CFE3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BF3F44-1B51-4A74-FDF8-2D17D0DACC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53503B-CCCC-88AE-26C1-C586BF5189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D1ABC0-BF35-F3E0-E616-8C76F83A2C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546B49-F537-680A-29AB-97B89031D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85F5E7-451D-CF6E-8C13-C23DD2C9E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6358E3-E90C-BE6F-DB92-7C289CBAF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790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8FD97-D3E6-1D45-E636-C1CA9BA55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4C5890-9070-D963-BE09-70A74EA7D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4FF76-AF7B-6619-F67E-803ABCAED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5DFD01-4AB8-6BF6-A6F1-CBA818CB2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704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790D54-F862-02CC-7A2E-BAD150C8A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66D251-A1F0-CA3D-1F1E-3345371EE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F499A-8857-6F46-498F-DFC79A995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960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F22E3-23AD-1773-213E-094DF21E4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29FE3-9514-AD3B-E2C3-B4ED3826D1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DD610C-9483-9337-594B-846BFBE627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83AA67-7E23-39AF-889B-2ABA55E38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B99CA8-5470-B027-1136-EEE7165C7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141D2-1FE2-2E87-5857-874091FF8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63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5165F-2944-43FD-E027-7E38DD4AC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C8D44D-15AC-90E7-8B4B-30D85F9AEF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262DA5-C9D5-2C8A-0C88-21CEA67D9C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3B7BAC-2607-0C1E-4557-0A7A56C1E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1FBA57-4A65-854A-7F26-5E09F5B5E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5F4CD6-671E-37BF-DBF0-F22662A57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282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1BA42-E311-E700-D169-E419DC2C7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A88268-9935-BBEE-AF6C-91E1F34BDA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08AC9-EBCB-3F76-F367-7C50B71E8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FC16C-74D0-CF31-806C-91C8688C1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867A5-5C78-4F20-B95C-F40FD588D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691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623916-34AE-941E-ECDB-C0D81FA59A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A2BB71-8853-0619-B1E0-F70D4769A1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3B713-C9E6-A7F7-9392-443D2E258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3B9E0-8469-B808-D40D-2B705DF60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F3CA46-DD5A-9957-8416-3A8C4A3E2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507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32A2F3-CEB3-1969-5AFE-54DA845D7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24BE0-D09F-495B-FDEE-F7B5C82F2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A6837-1989-0D65-93E9-23C59F62D4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3E6EA2-DABD-4B8F-98F2-6D3789DC2BE7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27328-005B-5F89-8D24-DD0459C53D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AAA20-B5C6-D89B-F046-60A4D8EECA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30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25949F6-C4C5-97EE-B16B-0EB37E2CA1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072257"/>
              </p:ext>
            </p:extLst>
          </p:nvPr>
        </p:nvGraphicFramePr>
        <p:xfrm>
          <a:off x="-5255" y="-530772"/>
          <a:ext cx="12201459" cy="7665193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159206">
                  <a:extLst>
                    <a:ext uri="{9D8B030D-6E8A-4147-A177-3AD203B41FA5}">
                      <a16:colId xmlns:a16="http://schemas.microsoft.com/office/drawing/2014/main" val="1105731483"/>
                    </a:ext>
                  </a:extLst>
                </a:gridCol>
                <a:gridCol w="8042253">
                  <a:extLst>
                    <a:ext uri="{9D8B030D-6E8A-4147-A177-3AD203B41FA5}">
                      <a16:colId xmlns:a16="http://schemas.microsoft.com/office/drawing/2014/main" val="2088157638"/>
                    </a:ext>
                  </a:extLst>
                </a:gridCol>
              </a:tblGrid>
              <a:tr h="63033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1" i="1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ID Number </a:t>
                      </a: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– </a:t>
                      </a: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Name:</a:t>
                      </a:r>
                      <a:endParaRPr lang="en-US" b="1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                                            Role-Based Access Control.</a:t>
                      </a:r>
                      <a:endParaRPr lang="en-US" b="1" i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1100525"/>
                  </a:ext>
                </a:extLst>
              </a:tr>
              <a:tr h="827244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Short-Description / Goal: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To allow the Manager to define and restrict system access levels for different users (Floor Staff and Suppliers) to ensure data privacy.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518424"/>
                  </a:ext>
                </a:extLst>
              </a:tr>
              <a:tr h="827244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Preconditions: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The Manager must be successfully logged into the system with administrative privileges.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767963"/>
                  </a:ext>
                </a:extLst>
              </a:tr>
              <a:tr h="68937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Postconditions: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 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The user's permission set is updated in the database, and new access rules are applied immediately.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63667"/>
                  </a:ext>
                </a:extLst>
              </a:tr>
              <a:tr h="74452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Error Situations </a:t>
                      </a:r>
                      <a:r>
                        <a:rPr lang="en-US" sz="1800" b="1" i="1" u="none" strike="noStrike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– System State in the Event of an Error</a:t>
                      </a: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: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If the database fails to update, the system displays an "Update Failed" error and retains the previous permission settings.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9187545"/>
                  </a:ext>
                </a:extLst>
              </a:tr>
              <a:tr h="413623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Actor(s) / Initiator(s):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Warehouse Manager.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8727950"/>
                  </a:ext>
                </a:extLst>
              </a:tr>
              <a:tr h="68937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Trigger: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The Manager selects the "User Management" or "Permissions" tab from the admin dashboard.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0483811"/>
                  </a:ext>
                </a:extLst>
              </a:tr>
              <a:tr h="1666875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Standard Process </a:t>
                      </a:r>
                      <a:r>
                        <a:rPr lang="en-US" sz="1800" b="1" i="1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(Main Success Scenario)</a:t>
                      </a: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: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EF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342900" algn="l" rtl="0" fontAlgn="auto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The Manager selects a specific user or role (e.g., Floor Staff).</a:t>
                      </a:r>
                    </a:p>
                    <a:p>
                      <a:pPr marL="342900" lvl="0" indent="-342900" algn="l" rtl="0" fontAlgn="base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The system displays the current permission set for that role.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342900" lvl="0" indent="-342900" algn="l" rtl="0" fontAlgn="base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The Manager modifies the permissions (Check/Uncheck specific modules).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  <a:p>
                      <a:pPr marL="342900" lvl="0" indent="-342900" algn="l" rtl="0" fontAlgn="base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The Manager clicks "Save Changes."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342900" lvl="0" indent="-342900" algn="l" rtl="0" fontAlgn="base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The system validates the changes and updates the </a:t>
                      </a:r>
                      <a:r>
                        <a:rPr lang="en-US" sz="1800" b="0" i="0" u="none" strike="noStrike" err="1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role_id</a:t>
                      </a: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 and </a:t>
                      </a:r>
                      <a:r>
                        <a:rPr lang="en-US" sz="1800" b="0" i="0" u="none" strike="noStrike" err="1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permissions_mask</a:t>
                      </a: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.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1959191"/>
                  </a:ext>
                </a:extLst>
              </a:tr>
              <a:tr h="1176617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it-IT" sz="1800" b="1" i="0" u="none" strike="noStrike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Alternative </a:t>
                      </a:r>
                      <a:r>
                        <a:rPr lang="it-IT" sz="1800" b="1" i="0" u="none" strike="noStrike" err="1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Processes</a:t>
                      </a:r>
                      <a:r>
                        <a:rPr lang="it-IT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 </a:t>
                      </a:r>
                      <a:r>
                        <a:rPr lang="it-IT" sz="1800" b="1" i="1" u="none" strike="noStrike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(Alternative/</a:t>
                      </a:r>
                      <a:r>
                        <a:rPr lang="it-IT" sz="1800" b="1" i="1" u="none" strike="noStrike" err="1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Other</a:t>
                      </a:r>
                      <a:r>
                        <a:rPr lang="it-IT" sz="1800" b="1" i="1" u="none" strike="noStrike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 </a:t>
                      </a:r>
                      <a:r>
                        <a:rPr lang="it-IT" sz="1800" b="1" i="1" u="none" strike="noStrike" err="1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Scenarios</a:t>
                      </a:r>
                      <a:r>
                        <a:rPr lang="it-IT" sz="1800" b="1" i="1" u="none" strike="noStrike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)</a:t>
                      </a:r>
                      <a:r>
                        <a:rPr lang="it-IT" sz="1800" b="1" i="0" u="none" strike="noStrike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: </a:t>
                      </a:r>
                      <a:endParaRPr lang="it-IT" b="0" i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 fontAlgn="base">
                        <a:buNone/>
                      </a:pPr>
                      <a:endParaRPr lang="en-US" b="0" i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742950" lvl="1" indent="-285750" algn="l" rtl="0" fontAlgn="base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Invalid Role </a:t>
                      </a: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:</a:t>
                      </a: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 If the Manager attempts to assign conflicting roles, the system prevents the save and highlights the conflict.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1103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9092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FEF57A2-D265-FFC3-7FCF-376E04DB08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7551507"/>
              </p:ext>
            </p:extLst>
          </p:nvPr>
        </p:nvGraphicFramePr>
        <p:xfrm>
          <a:off x="5255" y="-220717"/>
          <a:ext cx="12172311" cy="759921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149269">
                  <a:extLst>
                    <a:ext uri="{9D8B030D-6E8A-4147-A177-3AD203B41FA5}">
                      <a16:colId xmlns:a16="http://schemas.microsoft.com/office/drawing/2014/main" val="1073560388"/>
                    </a:ext>
                  </a:extLst>
                </a:gridCol>
                <a:gridCol w="8023042">
                  <a:extLst>
                    <a:ext uri="{9D8B030D-6E8A-4147-A177-3AD203B41FA5}">
                      <a16:colId xmlns:a16="http://schemas.microsoft.com/office/drawing/2014/main" val="832770866"/>
                    </a:ext>
                  </a:extLst>
                </a:gridCol>
              </a:tblGrid>
              <a:tr h="518272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1" i="1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ID Number </a:t>
                      </a: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– </a:t>
                      </a: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Name:</a:t>
                      </a:r>
                      <a:endParaRPr lang="en-US" b="1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                                                           System Audit Trail.</a:t>
                      </a:r>
                      <a:endParaRPr lang="en-US" b="1" i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9893812"/>
                  </a:ext>
                </a:extLst>
              </a:tr>
              <a:tr h="770404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Short-Description / Goal: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To allow the Manager to review a permanent record of all critical system changes and user actions for accountability.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0416078"/>
                  </a:ext>
                </a:extLst>
              </a:tr>
              <a:tr h="770404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Preconditions: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The Manager must be authenticated and have "Audit View" permissions enabled.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lvl="0" indent="0" algn="l" rtl="0" fontAlgn="base">
                        <a:buNone/>
                      </a:pPr>
                      <a:endParaRPr lang="en-US" b="0" i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8255811"/>
                  </a:ext>
                </a:extLst>
              </a:tr>
              <a:tr h="756397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Postconditions: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 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The system generates a report of logs without modifying any existing data.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574628"/>
                  </a:ext>
                </a:extLst>
              </a:tr>
              <a:tr h="812426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Error Situations </a:t>
                      </a:r>
                      <a:r>
                        <a:rPr lang="en-US" sz="1800" b="1" i="1" u="none" strike="noStrike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– System State in the Event of an Error</a:t>
                      </a: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: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If the log database is unreachable, the system displays a "Logs Unavailable" message and prevents further data entry to ensure no actions go unrecorded.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6497157"/>
                  </a:ext>
                </a:extLst>
              </a:tr>
              <a:tr h="490257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Actor(s) / Initiator(s):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Warehouse Manager.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232318"/>
                  </a:ext>
                </a:extLst>
              </a:tr>
              <a:tr h="784411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Trigger: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The Manager accesses the "Security Logs" or "Audit Reports" section.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197977"/>
                  </a:ext>
                </a:extLst>
              </a:tr>
              <a:tr h="1694889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Standard Process </a:t>
                      </a:r>
                      <a:r>
                        <a:rPr lang="en-US" sz="1800" b="1" i="1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(Main Success Scenario)</a:t>
                      </a: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: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EF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342900" algn="l" rtl="0" fontAlgn="auto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The Manager selects a date range and/or a specific user to audit.</a:t>
                      </a:r>
                    </a:p>
                    <a:p>
                      <a:pPr marL="342900" lvl="0" indent="-342900" algn="l" rtl="0" fontAlgn="base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The system queries the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audit_trail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 table.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  <a:p>
                      <a:pPr marL="342900" lvl="0" indent="-342900" algn="l" rtl="0" fontAlgn="base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The system retrieves the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user_id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,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timestamp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, and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action_type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 for each matching entry.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  <a:p>
                      <a:pPr marL="342900" lvl="0" indent="-342900" algn="l" rtl="0" fontAlgn="base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The system displays the logs in a read-only table.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342900" lvl="0" indent="-342900" algn="l" rtl="0" fontAlgn="base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The Manager reviews the activity details.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442857"/>
                  </a:ext>
                </a:extLst>
              </a:tr>
              <a:tr h="1001755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it-IT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Alternative </a:t>
                      </a:r>
                      <a:r>
                        <a:rPr lang="it-IT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Processes</a:t>
                      </a:r>
                      <a:r>
                        <a:rPr lang="it-IT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 </a:t>
                      </a:r>
                      <a:r>
                        <a:rPr lang="it-IT" sz="1800" b="1" i="1" u="none" strike="noStrike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(Alternative/</a:t>
                      </a:r>
                      <a:r>
                        <a:rPr lang="it-IT" sz="1800" b="1" i="1" u="none" strike="noStrike" dirty="0" err="1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Other</a:t>
                      </a:r>
                      <a:r>
                        <a:rPr lang="it-IT" sz="1800" b="1" i="1" u="none" strike="noStrike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 </a:t>
                      </a:r>
                      <a:r>
                        <a:rPr lang="it-IT" sz="1800" b="1" i="1" u="none" strike="noStrike" dirty="0" err="1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Scenarios</a:t>
                      </a:r>
                      <a:r>
                        <a:rPr lang="it-IT" sz="1800" b="1" i="1" u="none" strike="noStrike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)</a:t>
                      </a:r>
                      <a:r>
                        <a:rPr lang="it-IT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: </a:t>
                      </a:r>
                      <a:endParaRPr lang="it-IT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No Logs Found </a:t>
                      </a: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:</a:t>
                      </a: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If no actions match the criteria, the system displays "No records found for this period".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73287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8174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B52D8FE-94A7-923B-CA3E-29F7F1B76D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4581673"/>
              </p:ext>
            </p:extLst>
          </p:nvPr>
        </p:nvGraphicFramePr>
        <p:xfrm>
          <a:off x="-425823" y="-498661"/>
          <a:ext cx="12618568" cy="8459438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301365">
                  <a:extLst>
                    <a:ext uri="{9D8B030D-6E8A-4147-A177-3AD203B41FA5}">
                      <a16:colId xmlns:a16="http://schemas.microsoft.com/office/drawing/2014/main" val="4271940744"/>
                    </a:ext>
                  </a:extLst>
                </a:gridCol>
                <a:gridCol w="8317203">
                  <a:extLst>
                    <a:ext uri="{9D8B030D-6E8A-4147-A177-3AD203B41FA5}">
                      <a16:colId xmlns:a16="http://schemas.microsoft.com/office/drawing/2014/main" val="873857382"/>
                    </a:ext>
                  </a:extLst>
                </a:gridCol>
              </a:tblGrid>
              <a:tr h="5383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kern="1200" baseline="0" noProof="0">
                          <a:solidFill>
                            <a:schemeClr val="dk1"/>
                          </a:solidFill>
                        </a:rPr>
                        <a:t>                                               Warehouse Emergency Mode.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117165"/>
                  </a:ext>
                </a:extLst>
              </a:tr>
              <a:tr h="72290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kern="1200" baseline="0" noProof="0" dirty="0">
                          <a:solidFill>
                            <a:schemeClr val="dk1"/>
                          </a:solidFill>
                        </a:rPr>
                        <a:t>To immediately halt all warehouse operations and lock the facility during a security threat or accident.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07460"/>
                  </a:ext>
                </a:extLst>
              </a:tr>
              <a:tr h="10305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kern="1200" baseline="0" noProof="0">
                          <a:solidFill>
                            <a:schemeClr val="dk1"/>
                          </a:solidFill>
                        </a:rPr>
                        <a:t>The Manager is logged into the system and has access to the "System Health" or "Security" module.</a:t>
                      </a:r>
                      <a:endParaRPr lang="en-US"/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470651"/>
                  </a:ext>
                </a:extLst>
              </a:tr>
              <a:tr h="10305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kern="1200" baseline="0" noProof="0">
                          <a:solidFill>
                            <a:schemeClr val="dk1"/>
                          </a:solidFill>
                        </a:rPr>
                        <a:t>The </a:t>
                      </a:r>
                      <a:r>
                        <a:rPr lang="en-US" sz="1800" b="0" i="0" u="none" strike="noStrike" kern="1200" baseline="0" noProof="0" err="1">
                          <a:solidFill>
                            <a:schemeClr val="dk1"/>
                          </a:solidFill>
                          <a:latin typeface="Consolas"/>
                          <a:ea typeface="+mn-ea"/>
                          <a:cs typeface="+mn-cs"/>
                        </a:rPr>
                        <a:t>Emergency_Flag</a:t>
                      </a:r>
                      <a:r>
                        <a:rPr lang="en-US" sz="1800" b="0" i="0" u="none" strike="noStrike" kern="1200" baseline="0" noProof="0">
                          <a:solidFill>
                            <a:schemeClr val="dk1"/>
                          </a:solidFill>
                        </a:rPr>
                        <a:t> is set to "True," all active picking tasks are suspended, and electronic doors are locked.</a:t>
                      </a:r>
                      <a:endParaRPr lang="en-US"/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545432"/>
                  </a:ext>
                </a:extLst>
              </a:tr>
              <a:tr h="72290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kern="1200" baseline="0" noProof="0">
                          <a:solidFill>
                            <a:schemeClr val="dk1"/>
                          </a:solidFill>
                        </a:rPr>
                        <a:t>If the connection to electronic dock controllers fails, the system logs the error and triggers a "Manual Lockdown Required" alert.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005549"/>
                  </a:ext>
                </a:extLst>
              </a:tr>
              <a:tr h="4152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kern="1200" baseline="0" noProof="0">
                          <a:solidFill>
                            <a:schemeClr val="dk1"/>
                          </a:solidFill>
                        </a:rPr>
                        <a:t>Warehouse Manager.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717442"/>
                  </a:ext>
                </a:extLst>
              </a:tr>
              <a:tr h="72290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kern="1200" baseline="0" noProof="0">
                          <a:solidFill>
                            <a:schemeClr val="dk1"/>
                          </a:solidFill>
                        </a:rPr>
                        <a:t>The Manager clicks the "Emergency Stop" button on the dashboard.</a:t>
                      </a:r>
                      <a:endParaRPr lang="en-US"/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861149"/>
                  </a:ext>
                </a:extLst>
              </a:tr>
              <a:tr h="23532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  <a:r>
                        <a:rPr lang="en-US" sz="1800" b="0" i="0" u="none" strike="noStrike" kern="1200" baseline="0" noProof="0" dirty="0">
                          <a:solidFill>
                            <a:schemeClr val="dk1"/>
                          </a:solidFill>
                        </a:rPr>
                        <a:t>The Manager initiates the Emergency Stop protocol.</a:t>
                      </a:r>
                      <a:endParaRPr lang="en-US" dirty="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800" b="0" i="0" u="none" strike="noStrike" kern="1200" baseline="0" noProof="0">
                          <a:solidFill>
                            <a:schemeClr val="dk1"/>
                          </a:solidFill>
                        </a:rPr>
                        <a:t>The system asks for a final confirmation.</a:t>
                      </a:r>
                      <a:endParaRPr lang="en-US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800" b="0" i="0" u="none" strike="noStrike" kern="1200" baseline="0" noProof="0">
                          <a:solidFill>
                            <a:schemeClr val="dk1"/>
                          </a:solidFill>
                        </a:rPr>
                        <a:t>The system broadcasts a "System Interrupt" signal to all active mobile and web sessions.</a:t>
                      </a:r>
                      <a:endParaRPr lang="en-US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800" b="0" i="0" u="none" strike="noStrike" kern="1200" baseline="0" noProof="0" dirty="0">
                          <a:solidFill>
                            <a:schemeClr val="dk1"/>
                          </a:solidFill>
                        </a:rPr>
                        <a:t>The system updates the </a:t>
                      </a:r>
                      <a:r>
                        <a:rPr lang="en-US" sz="1800" b="0" i="0" u="none" strike="noStrike" kern="1200" baseline="0" noProof="0" dirty="0" err="1">
                          <a:solidFill>
                            <a:schemeClr val="dk1"/>
                          </a:solidFill>
                          <a:latin typeface="Consolas"/>
                          <a:ea typeface="+mn-ea"/>
                          <a:cs typeface="+mn-cs"/>
                        </a:rPr>
                        <a:t>Emergency_Flag</a:t>
                      </a:r>
                      <a:r>
                        <a:rPr lang="en-US" sz="1800" b="0" i="0" u="none" strike="noStrike" kern="1200" baseline="0" noProof="0" dirty="0">
                          <a:solidFill>
                            <a:schemeClr val="dk1"/>
                          </a:solidFill>
                        </a:rPr>
                        <a:t> in the database.</a:t>
                      </a:r>
                      <a:endParaRPr lang="en-US" dirty="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800" b="0" i="0" u="none" strike="noStrike" kern="1200" baseline="0" noProof="0">
                          <a:solidFill>
                            <a:schemeClr val="dk1"/>
                          </a:solidFill>
                        </a:rPr>
                        <a:t>The system sends a lock signal to the electronic dock door controllers.</a:t>
                      </a:r>
                      <a:endParaRPr lang="en-US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800" b="0" i="0" u="none" strike="noStrike" kern="1200" baseline="0" noProof="0">
                          <a:solidFill>
                            <a:schemeClr val="dk1"/>
                          </a:solidFill>
                        </a:rPr>
                        <a:t>The dashboard displays "Warehouse Secured - Operations Suspended."</a:t>
                      </a:r>
                      <a:endParaRPr lang="en-US"/>
                    </a:p>
                    <a:p>
                      <a:pPr lvl="0">
                        <a:buNone/>
                      </a:pP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744207"/>
                  </a:ext>
                </a:extLst>
              </a:tr>
              <a:tr h="92285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kern="1200" baseline="0" noProof="0">
                          <a:solidFill>
                            <a:schemeClr val="dk1"/>
                          </a:solidFill>
                          <a:latin typeface="Aptos"/>
                        </a:rPr>
                        <a:t>False Alarm </a:t>
                      </a:r>
                      <a:r>
                        <a:rPr lang="en-US" sz="1800" b="1" i="0" u="none" strike="noStrike" kern="1200" baseline="0" noProof="0" dirty="0">
                          <a:solidFill>
                            <a:schemeClr val="dk1"/>
                          </a:solidFill>
                        </a:rPr>
                        <a:t>:</a:t>
                      </a:r>
                      <a:r>
                        <a:rPr lang="en-US" sz="1800" b="0" i="0" u="none" strike="noStrike" kern="1200" baseline="0" noProof="0" dirty="0">
                          <a:solidFill>
                            <a:schemeClr val="dk1"/>
                          </a:solidFill>
                        </a:rPr>
                        <a:t> The Manager can deactivate the mode by entering a secure bypass code to resume operations.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937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0062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E25409A-8C34-BC49-8E8B-E63896864B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7762517"/>
              </p:ext>
            </p:extLst>
          </p:nvPr>
        </p:nvGraphicFramePr>
        <p:xfrm>
          <a:off x="5255" y="5255"/>
          <a:ext cx="12164049" cy="712386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146429">
                  <a:extLst>
                    <a:ext uri="{9D8B030D-6E8A-4147-A177-3AD203B41FA5}">
                      <a16:colId xmlns:a16="http://schemas.microsoft.com/office/drawing/2014/main" val="3581570931"/>
                    </a:ext>
                  </a:extLst>
                </a:gridCol>
                <a:gridCol w="8017620">
                  <a:extLst>
                    <a:ext uri="{9D8B030D-6E8A-4147-A177-3AD203B41FA5}">
                      <a16:colId xmlns:a16="http://schemas.microsoft.com/office/drawing/2014/main" val="60536154"/>
                    </a:ext>
                  </a:extLst>
                </a:gridCol>
              </a:tblGrid>
              <a:tr h="650995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1" i="1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ID Number </a:t>
                      </a: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– </a:t>
                      </a: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Name:</a:t>
                      </a:r>
                      <a:endParaRPr lang="en-US" b="1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                                                                   User Shift.</a:t>
                      </a:r>
                      <a:endParaRPr lang="en-US" b="1" i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1740087"/>
                  </a:ext>
                </a:extLst>
              </a:tr>
              <a:tr h="792516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Short-Description / Goal: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To enable Floor Staff to record their start and end times for accurate labor tracking.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  <a:p>
                      <a:pPr marL="342900" lvl="0" indent="-342900" algn="l" rtl="0" fontAlgn="base">
                        <a:buFont typeface="Arial" panose="020B0604020202020204" pitchFamily="34" charset="0"/>
                        <a:buChar char="•"/>
                      </a:pP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3858866"/>
                  </a:ext>
                </a:extLst>
              </a:tr>
              <a:tr h="728382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Preconditions: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The Floor Staff user must be registered in the system and have a valid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user_id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.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  <a:p>
                      <a:pPr marL="342900" lvl="0" indent="-342900" algn="l" rtl="0" fontAlgn="base">
                        <a:buFont typeface="Arial" panose="020B0604020202020204" pitchFamily="34" charset="0"/>
                        <a:buChar char="•"/>
                      </a:pP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538845"/>
                  </a:ext>
                </a:extLst>
              </a:tr>
              <a:tr h="721756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Postconditions: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 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A new record is created or updated in the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user_work_history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 table.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  <a:p>
                      <a:pPr marL="342900" lvl="0" indent="-342900" algn="l" rtl="0" fontAlgn="base">
                        <a:buFont typeface="Arial" panose="020B0604020202020204" pitchFamily="34" charset="0"/>
                        <a:buChar char="•"/>
                      </a:pP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563604"/>
                  </a:ext>
                </a:extLst>
              </a:tr>
              <a:tr h="924485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Error Situations </a:t>
                      </a:r>
                      <a:r>
                        <a:rPr lang="en-US" sz="1800" b="1" i="1" u="none" strike="noStrike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– System State in the Event of an Error</a:t>
                      </a: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: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If the user is already clocked in, the system prevents a second "Clock-in" and prompts for "Clock-out".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0291501"/>
                  </a:ext>
                </a:extLst>
              </a:tr>
              <a:tr h="448235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Actor(s) / Initiator(s):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Floor Staff.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512889"/>
                  </a:ext>
                </a:extLst>
              </a:tr>
              <a:tr h="462242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Trigger: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The user clicks the "Clock In" or "Clock Out" button on the terminal.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8731274"/>
                  </a:ext>
                </a:extLst>
              </a:tr>
              <a:tr h="1498786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Standard Process </a:t>
                      </a:r>
                      <a:r>
                        <a:rPr lang="en-US" sz="1800" b="1" i="1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(Main Success Scenario)</a:t>
                      </a: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: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EF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342900" algn="l" rtl="0" fontAlgn="auto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The user identifies themselves via their credentials.</a:t>
                      </a:r>
                    </a:p>
                    <a:p>
                      <a:pPr marL="342900" lvl="0" indent="-342900" algn="l" rtl="0" fontAlgn="base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The system verifies the current status of the user.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  <a:p>
                      <a:pPr marL="342900" lvl="0" indent="-342900" algn="l" rtl="0" fontAlgn="base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The system captures the current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timestamp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 and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device_id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.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  <a:p>
                      <a:pPr marL="342900" lvl="0" indent="-342900" algn="l" rtl="0" fontAlgn="base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The system saves the entry to the attendance log.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342900" lvl="0" indent="-342900" algn="l" rtl="0" fontAlgn="base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The system confirms the action with a success message (e.g., "Shift Started").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0918568"/>
                  </a:ext>
                </a:extLst>
              </a:tr>
              <a:tr h="89647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it-IT" sz="1800" b="1" i="0" u="none" strike="noStrike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Alternative </a:t>
                      </a:r>
                      <a:r>
                        <a:rPr lang="it-IT" sz="1800" b="1" i="0" u="none" strike="noStrike" err="1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Processes</a:t>
                      </a:r>
                      <a:r>
                        <a:rPr lang="it-IT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 </a:t>
                      </a:r>
                      <a:r>
                        <a:rPr lang="it-IT" sz="1800" b="1" i="1" u="none" strike="noStrike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(Alternative/</a:t>
                      </a:r>
                      <a:r>
                        <a:rPr lang="it-IT" sz="1800" b="1" i="1" u="none" strike="noStrike" err="1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Other</a:t>
                      </a:r>
                      <a:r>
                        <a:rPr lang="it-IT" sz="1800" b="1" i="1" u="none" strike="noStrike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 </a:t>
                      </a:r>
                      <a:r>
                        <a:rPr lang="it-IT" sz="1800" b="1" i="1" u="none" strike="noStrike" err="1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Scenarios</a:t>
                      </a:r>
                      <a:r>
                        <a:rPr lang="it-IT" sz="1800" b="1" i="1" u="none" strike="noStrike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)</a:t>
                      </a:r>
                      <a:r>
                        <a:rPr lang="it-IT" sz="1800" b="1" i="0" u="none" strike="noStrike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: </a:t>
                      </a:r>
                      <a:endParaRPr lang="it-IT" b="0" i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If a user forgets to clock out, the Manager can manually adjust the shift record later.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08162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2447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4018E43-D5F2-11CC-FC57-F144314C34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2496483"/>
              </p:ext>
            </p:extLst>
          </p:nvPr>
        </p:nvGraphicFramePr>
        <p:xfrm>
          <a:off x="26275" y="26275"/>
          <a:ext cx="12143784" cy="720329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139545">
                  <a:extLst>
                    <a:ext uri="{9D8B030D-6E8A-4147-A177-3AD203B41FA5}">
                      <a16:colId xmlns:a16="http://schemas.microsoft.com/office/drawing/2014/main" val="2278841889"/>
                    </a:ext>
                  </a:extLst>
                </a:gridCol>
                <a:gridCol w="8004239">
                  <a:extLst>
                    <a:ext uri="{9D8B030D-6E8A-4147-A177-3AD203B41FA5}">
                      <a16:colId xmlns:a16="http://schemas.microsoft.com/office/drawing/2014/main" val="1782954324"/>
                    </a:ext>
                  </a:extLst>
                </a:gridCol>
              </a:tblGrid>
              <a:tr h="696871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1" i="1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ID Number </a:t>
                      </a: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– </a:t>
                      </a: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Name:</a:t>
                      </a:r>
                      <a:endParaRPr lang="en-US" b="1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                                              Warehouse Capacity Alerts .</a:t>
                      </a:r>
                      <a:endParaRPr lang="en-US" b="1" i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2349429"/>
                  </a:ext>
                </a:extLst>
              </a:tr>
              <a:tr h="696871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Short-Description / Goal: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To automatically alert the Manager when storage occupancy reaches critical levels.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7214165"/>
                  </a:ext>
                </a:extLst>
              </a:tr>
              <a:tr h="696871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Preconditions: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The Warehouse inventory system must be active and tracking stock volumes.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3283180"/>
                  </a:ext>
                </a:extLst>
              </a:tr>
              <a:tr h="672352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Postconditions: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 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An alert is triggered and logged if the capacity threshold is exceeded.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3294229"/>
                  </a:ext>
                </a:extLst>
              </a:tr>
              <a:tr h="798419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Error Situations </a:t>
                      </a:r>
                      <a:r>
                        <a:rPr lang="en-US" sz="1800" b="1" i="1" u="none" strike="noStrike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– System State in the Event of an Error</a:t>
                      </a: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: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If the capacity calculation fails, the system defaults to a "Warning" state to prevent overfilling.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0282520"/>
                  </a:ext>
                </a:extLst>
              </a:tr>
              <a:tr h="560294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Actor(s) / Initiator(s):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System (Inventory Monitor) &amp; Warehouse Manager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4603486"/>
                  </a:ext>
                </a:extLst>
              </a:tr>
              <a:tr h="672352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Trigger: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An inventory update (Stock In) increases the occupancy level.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924940"/>
                  </a:ext>
                </a:extLst>
              </a:tr>
              <a:tr h="1414742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Standard Process </a:t>
                      </a:r>
                      <a:r>
                        <a:rPr lang="en-US" sz="1800" b="1" i="1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(Main Success Scenario)</a:t>
                      </a: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: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EF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342900" algn="l" rtl="0" fontAlgn="auto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The system (Observer) detects a change in total bin occupancy.</a:t>
                      </a:r>
                    </a:p>
                    <a:p>
                      <a:pPr marL="342900" lvl="0" indent="-342900" algn="l" rtl="0" fontAlgn="base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The system calculates the percentage of used space versus total capacity.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342900" lvl="0" indent="-342900" algn="l" rtl="0" fontAlgn="base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If the percentage exceeds 90%, the system generates an alert.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342900" lvl="0" indent="-342900" algn="l" rtl="0" fontAlgn="base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The system pushes a notification to the Manager’s dashboard.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342900" lvl="0" indent="-342900" algn="l" rtl="0" fontAlgn="base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The Manager acknowledges the alert and reviews the capacity report.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3722669"/>
                  </a:ext>
                </a:extLst>
              </a:tr>
              <a:tr h="994522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it-IT" sz="1800" b="1" i="0" u="none" strike="noStrike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Alternative </a:t>
                      </a:r>
                      <a:r>
                        <a:rPr lang="it-IT" sz="1800" b="1" i="0" u="none" strike="noStrike" err="1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Processes</a:t>
                      </a:r>
                      <a:r>
                        <a:rPr lang="it-IT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 </a:t>
                      </a:r>
                      <a:r>
                        <a:rPr lang="it-IT" sz="1800" b="1" i="1" u="none" strike="noStrike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(Alternative/</a:t>
                      </a:r>
                      <a:r>
                        <a:rPr lang="it-IT" sz="1800" b="1" i="1" u="none" strike="noStrike" err="1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Other</a:t>
                      </a:r>
                      <a:r>
                        <a:rPr lang="it-IT" sz="1800" b="1" i="1" u="none" strike="noStrike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 </a:t>
                      </a:r>
                      <a:r>
                        <a:rPr lang="it-IT" sz="1800" b="1" i="1" u="none" strike="noStrike" err="1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Scenarios</a:t>
                      </a:r>
                      <a:r>
                        <a:rPr lang="it-IT" sz="1800" b="1" i="1" u="none" strike="noStrike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)</a:t>
                      </a:r>
                      <a:r>
                        <a:rPr lang="it-IT" sz="1800" b="1" i="0" u="none" strike="noStrike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: </a:t>
                      </a:r>
                      <a:endParaRPr lang="it-IT" b="0" i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Low Occupancy </a:t>
                      </a: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:</a:t>
                      </a: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 If the occupancy is below the threshold, the system remains silent and only updates the UI status bar.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00811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05878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53</Words>
  <Application>Microsoft Office PowerPoint</Application>
  <PresentationFormat>Widescreen</PresentationFormat>
  <Paragraphs>10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Ismail Shehata</dc:creator>
  <cp:lastModifiedBy>Ismail Shehata</cp:lastModifiedBy>
  <cp:revision>141</cp:revision>
  <dcterms:created xsi:type="dcterms:W3CDTF">2026-04-05T05:37:04Z</dcterms:created>
  <dcterms:modified xsi:type="dcterms:W3CDTF">2026-04-09T20:12:38Z</dcterms:modified>
</cp:coreProperties>
</file>