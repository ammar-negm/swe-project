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2" autoAdjust="0"/>
    <p:restoredTop sz="94660"/>
  </p:normalViewPr>
  <p:slideViewPr>
    <p:cSldViewPr snapToGrid="0">
      <p:cViewPr varScale="1">
        <p:scale>
          <a:sx n="79" d="100"/>
          <a:sy n="79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6EA2-DABD-4B8F-98F2-6D3789DC2BE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E76DD-9D08-406A-BE39-506A81E74A0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63500" y="1"/>
          <a:ext cx="12255616" cy="137185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219575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UC-25  –  Multi-Order Sort-to-Light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efficiently sort picked items into multiple customer shipping bins simultaneously by using visual light indicators, ensuring high accuracy and reducing sorting time for warehouse staff.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The operator is logged into the WMS and has an active picking session.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Inventory database is online and product-to-bin mappings are up to date.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barcode scanner or RFID reader is connected and operational at the workstation.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Bin light hardware is powered on and communicating with the WMS.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sng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Success:</a:t>
                      </a: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All items are picked from their correct bins; bin lights are deactivated; picking session is marked complete in the WMS.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sng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Failure:</a:t>
                      </a: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Unresolved items remain flagged in the system; a supervisor is notified for manual intervention.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Inventory Mismatch: The system remains in a "Waiting for Input" state; no bin lights are triggered to prevent incorrect placement.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Hardware Timeout: If the bin light fails to respond within a specific time, the system logs a communication error and switches to "Display Fallback" mode (showing the location on the screen).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Incomplete Sort: If an item is scanned but not placed (or confirmed), the order remains "Pending" in the WMS database and cannot be marked as "Ready for Shipping."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Primary: Warehouse Staff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Secondary: WMS / Software System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Warehouse Staff scans a picked item barcode or RFID tag to begin the sorting process.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The Warehouse Staff scans a picked item barcode or RFID tag.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identifies the customer-specific shipping bin(s) for the item.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System checks whether the item belongs to one or multiple active orders.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System activates the corresponding bin light(s) for the target shipping bins in real-time.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The Warehouse Staff follows the illuminated bin light to the correct customer bin.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The Warehouse Staff places the item into the indicated shipping bin.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 The System confirms the sort and deactivates the bin light.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 If additional items remain, the flow returns to Step 1.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9. The use case ends when all items are sorted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 – Item Not Found in Inventory Database: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At Step 2, the system cannot locate the product in the inventory database.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displays an "Item Not Found" error message on the operator's screen.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No bin light is activated.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Warehouse Staff escalates the issue to a supervisor or re-scans after verification.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 – Bin Light Hardware Failure: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At Step 4, the system fails to activate the bin light due to a hardware or communication error.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displays the Bin Location as a text fallback on the operator's screen.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Warehouse Staff uses the on-screen text to manually navigate to the storage location.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63500" y="1"/>
          <a:ext cx="12255616" cy="137185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219575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UC-26  –  Validate Packed Parcel Weight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verify the accuracy of the packed parcel by comparing its actual weight against the pre-calculated expected weight, ensuring no items are missing or added incorrectly before shipping.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The order picking process is finalized and all items are secured inside the shipping container.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packing task status is marked as "Completed" within the system.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A calibrated digital scale is actively connected to the workstation.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Calculated Weight for all products is pre-defined and available in the master database.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sng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Success: </a:t>
                      </a: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parcel is validated, the database status is updated to "Ready for Dispatch", and the parcel is cleared for shipping.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sng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Failure:</a:t>
                      </a: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The discrepancy is logged, the staff is alerted, and the parcel remains in the Repack Loop until validation is successful.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Scale Connection Lost: The system enters a "Hardware Error" state and prevents any shipping approvals until the scale is reconnected.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Missing Master Data: If an item's weight is not defined in the database, the system flags the parcel as "Manual Review Required."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Weight Tolerance Exceeded: The system locks the order status, preventing it from moving to the dispatch stage until a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>
                          <a:sym typeface="+mn-ea"/>
                        </a:rPr>
                        <a:t>Primary: Warehouse Staff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>
                          <a:sym typeface="+mn-ea"/>
                        </a:rPr>
                        <a:t>Secondary: WMS / Software System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Warehouse Staff places the sealed parcel onto the digital scale after packing is marked Completed.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The Warehouse Staff places the sealed parcel onto the digital scale.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captures the Actual Weight from the scale's hardware sensor.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System retrieves the pre-calculated Expected Weight from the order database.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System performs a comparison between the Actual and Expected weights.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The weight difference is identified to be within the Tolerance Threshold.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The System grants Approval for Shipping.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 The System updates the order status in the database to "Ready for Dispatch".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 The use case ends successfully.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Weight Discrepancy Detected (Mismatched Weights):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At Step 5, the weight difference exceeds the defined Tolerance Threshold.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automatically generates a Discrepancy Log in the error records for audit purposes.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System triggers a visual/auditory Alert to the Warehouse Staff.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Warehouse Staff inspects the parcel contents and performs a Repack/Correction.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The flow restarts from Main Flow Step 1 (Re-weighing on the scale)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63500" y="1"/>
          <a:ext cx="12255616" cy="137185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219575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UC-28  –  Order Fulfillment State-Machine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manage and automate the lifecycle of a customer order by transitioning through defined states (Processing to Delivered), ensuring real-time tracking and visibility for both operators and customers.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An order has been received and registered in the WMS with a unique Order ID.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initial status of the order is set to "Processing".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All sensors and automated confirmation mechanisms are active and connected.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API endpoint for real-time status queries is online and accessible.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sng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Success:</a:t>
                      </a: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Order status is "Delivered"; full state transition history is logged; real-time API reflects final status.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sng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Failure:</a:t>
                      </a: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Order remains at the failed stage; an alert is raised for manual resolution; no further automatic transitions occur.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State Transition: The system attempts to move an order to "Shipped" before "Packing" is completed; the system blocks the action and logs a protocol error.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Deadlock State: An order gets stuck in a state for too long without an update; the system triggers an "Inactivity Alert" to the supervisor.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 Connection Failure: The system cannot broadcast the status update to external users; it queues the update locally until the connection is restored.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Primary: Warehouse Staff / System Operator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Secondary: WMS / Software System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 order is received and registered in the WMS with a unique Order ID and initial status "Processing".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An order enters the system with status: Processing.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verifies that all required items are available in inventory.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System automatically transitions the order status to: Picking.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Warehouse Staff picks the items from inventory.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Upon pick completion, the status transitions to: Packing.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6.The Warehouse Staff sorts and packs the order guided by the Sort-to-Light system (UC-25) and weight validation is performed (UC-26).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 Upon successful packing confirmation, the status transitions to: Shipped.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 The carrier confirms package dispatch; the status transitions to: Delivered.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9. External users can query the order status at any stage via the API.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10. The use case ends when the order reaches the Delivered state.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 – Stage Failure / Operator Override: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At any transition step, the automated sensor fails to confirm completion.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sends an alert to the operator and pauses the transition.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operator manually reviews the stage and either confirms or escalates.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Upon manual confirmation, the transition proceeds normally.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 – Shipment Returned: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After the order reaches "Shipped", a return notification is received.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creates a Return Order linked to the original Order ID.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status is updated to "Returned" and inventory is adjusted accordingly.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63500" y="1"/>
          <a:ext cx="12255616" cy="137185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219575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UC-30  –  Packing Material Optimizer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minimize shipping costs and material waste by automatically calculating the required volume for an order and suggesting the smallest compatible box size.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The order picking process is complete and items are ready for packing.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Product dimension data is available either from volume-measuring sensors or the product master database.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WMS has an up-to-date catalog of available box sizes and their internal dimensions.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packing station terminal is active and connected to the WMS.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sng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Success:</a:t>
                      </a: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The optimal box size is selected, displayed, and recorded in the order database; packing proceeds.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sng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Failure:</a:t>
                      </a: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If no suitable box is found and the operator cannot resolve, the order is flagged for supervisor review.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Mismatch: The combined volume of items exceeds all available box sizes; the system enters a "Manual Exception" state for the operator to split the order into two boxes.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Database Timeout: The system cannot access the box catalog; it stays in a "Halt" state until dimensions can be retrieved to prevent using an inefficient box.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Incomplete Dimension Data: An item in the order has no recorded dimensions (LxWxH); the system flags the item for manual measurement.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Primary: Warehouse Staff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Secondary: WMS / Software System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Warehouse Staff initiates a packing session by selecting an order at the packing station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The Warehouse Staff initiates a packing session by selecting an order at the packing station.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retrieves the dimensions of all items from sensors or the product database.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System evaluates available box sizes against the combined dimensions of the items.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System selects the box that minimizes void space while accommodating all items.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The System displays the recommended box size on the packing station screen.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The Warehouse Staff selects the recommended box or overrides it manually.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 The System records the final box selection linked to the order.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 The use case ends successfully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 – Sensor Data Unavailable: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At Step 2, the volume-measuring sensor fails to provide dimension data.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falls back to using pre-stored product dimensions from the master database.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System notifies the operator of the fallback and continues with Step 3.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 – No Suitable Box Found: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At Step 4, no available box size fits the calculated product dimensions.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alerts the operator and suggests the closest available box with a note about extra padding.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operator selects the closest box manually and the flow continues from Step 6.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-63500" y="1"/>
          <a:ext cx="12255616" cy="137185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219575"/>
                <a:gridCol w="8036041"/>
              </a:tblGrid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 Number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Name: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UC-31  –  Label Generation &amp; QR-Linkage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Short-Description / Goal: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generate and print a unique shipping label containing a QR code that digitally links the physical parcel to its order data, enabling seamless tracking and identification.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542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Preconditions: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The packing process is complete and the order status is "Packing Finished".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Product ID, dimensions, and relevant product data are available in the database.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label printer is connected, calibrated, and loaded with label stock.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QR code generation engine complies with ISO/IEC 18004 standards.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55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Postconditions: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sng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Success:</a:t>
                      </a: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valid QR-linked label is printed and attached to the parcel; the QR code is stored and linked to the order in the database.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sng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Failure:</a:t>
                      </a: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Label generation or printing failure is logged; the order remains in a "Pending Label" state until resolved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688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Error Situations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System State in the Event of an Error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Printer Hardware Error: The label printer is out of paper or ink; the system pauses the queue and alerts the operator to prevent data loss.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QR Generation Timeout: The system fails to generate the QR code image; it retries the process 3 times before flagging the order for "Manual Labeling."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Database Write Failure: The label prints but the system fails to save the "Link" between the QR and the Order; the system marks the label as "Invalid" to prevent shipping an untraceable box.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037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Actor(s) / Initiator(s):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Primary: Warehouse Staff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Secondary: WMS / Software System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393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Trigger: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Packing is confirmed complete; the System automatically triggers the label generation process.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Standard Process </a:t>
                      </a:r>
                      <a:r>
                        <a:rPr lang="en-US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(Main Success Scenario)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Upon packing completion, the System automatically triggers the label generation process.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retrieves the product ID, dimensions, and relevant order data from the database.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System generates a unique QR Code embedding order ID, shipment details, and tracking metadata.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4. The System validates that the QR code meets standard scanning requirements (ISO/IEC 18004).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 The System links the generated QR code to the order record in the database.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 The System sends the label (including QR code) to the connected label printer.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7. The Warehouse Staff attaches the printed label to the parcel.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8. The use case ends successfully.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1278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Alternative Processes </a:t>
                      </a:r>
                      <a:r>
                        <a:rPr lang="it-IT" sz="1800" b="1" i="1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(Alternative/Other Scenarios)</a:t>
                      </a:r>
                      <a:r>
                        <a:rPr lang="it-IT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endParaRPr lang="it-IT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 – QR Code Validation Failure: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At Step 4, the generated QR code fails the standards validation check.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logs the error and automatically regenerates the QR code.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If regeneration fails after 3 attempts, an alert is sent to the operator and the order is flagged.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A2 – Label Printer Offline: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 At Step 6, the system cannot communicate with the label printer.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2. The System displays an error and queues the print job.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 The operator resolves the printer issue and the system retransmits the queued print job.</a:t>
                      </a:r>
                      <a:endParaRPr lang="en-US" altLang="en-U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14047</Words>
  <Application>WPS Presentation</Application>
  <PresentationFormat>Widescreen</PresentationFormat>
  <Paragraphs>303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Aptos Display</vt:lpstr>
      <vt:lpstr>Segoe UI Variable Display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Ismail Shehata</dc:creator>
  <cp:lastModifiedBy>w.i</cp:lastModifiedBy>
  <cp:revision>8</cp:revision>
  <dcterms:created xsi:type="dcterms:W3CDTF">2026-04-05T05:37:00Z</dcterms:created>
  <dcterms:modified xsi:type="dcterms:W3CDTF">2026-04-10T16:41:02Z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B1D805649A044532AD6FDBEFDDD344F7_12</vt:lpwstr>
  </property>
  <property fmtid="{D5CDD505-2E9C-101B-9397-08002B2CF9AE}" pid="3" name="KSOProductBuildVer">
    <vt:lpwstr>1033-12.1.0.25242</vt:lpwstr>
  </property>
</Properties>
</file>